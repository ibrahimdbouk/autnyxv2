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Golden master deck. Mixed audience — business value and technical detail on every feature. Status labels are honest: LIVE = in the running product; FRAMEWORK = built and verified on production as platform framework, not yet wired to real data or surfaced in UI; ROADMAP = designed but not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 platform modules today. Apps are entitlement-gated navigation groups on one tenant panel, not separate apps. The boundary rule is enforced by tests/Feature/ArchitectureBoundaryTest.php.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Modular monolith, boundary-enforced. The pipeline and 500-prevention system are why 20+ milestones shipped additively with no production incident surfacing to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P1.1–P1.3. Additive projection pattern kept the running app untouched.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P1.4–P1.5.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P2.1. Flagship connectors (S/4, D365, Oracle Fusion, RELEX) are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P4.1.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P4.2.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P4.3. Empty until real recommendations flow — the compounding starts with a live customer.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P4.6.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P4.5. The drill-into-why UI is the consumer-gated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P4.8. Ships its engine only atop guardrails; true 'auto' in prod waits on a customer + trust track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Clustering built as a platform primitive from day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 rules. Determinism + auditability is a core differentiator.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Deferred: read detection from the P1.2 event stream (a deeper refactor).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B8. Deterministic inference; the AI phrases the conclusion, never chooses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principle #3: AI narrates; it does not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A foundation. Justified by the ~78%-intermittent catalogue.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Recovery lifecycle + collaboration.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 / delivery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reconciles product-principles.md ('never execute') with the platform's Phase 2/4 write-back and autonomy. Honest framing: advise-by-default, guardrailed, opt-in auto.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914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MASTER DECK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16002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Autnyx</a:t>
            </a:r>
            <a:endParaRPr lang="en-US" sz="7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0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AI-Native Supply-Chain Control Tower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033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with apps on top — sense → understand → recommend → execute → measure → learn. This deck details every functional capability of the platform and the Root-Cause Intelligence app, with an honest build status on each.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52578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5257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5257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running product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52578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C682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34840" y="5257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41848" y="5257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verified on prod; wiring/UI deferred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52578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6C7A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0" y="5257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436608" y="5257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/ scoped, not built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12  ·  Filament v5  ·  PostgreSQL  ·  multi-tenant  ·  Laravel Cloud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this deck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792224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249424"/>
            <a:ext cx="31272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is a PLATFORM (a shared, governed spine) with APPS on top. Every app is structurally a signal producer on the same loop. The platform is led first in this deck, the app second.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64592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17136" y="1792224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status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517136" y="2249424"/>
            <a:ext cx="31272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capability carries a label. LIVE = in the running product. FRAMEWORK = built + verified on prod but not yet wired to real data / surfaced in the UI. ROADMAP = scoped, not built.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66176" y="1792224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loop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266176" y="2249424"/>
            <a:ext cx="31272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→ understand → recommend → execute → measure → learn. Every feature is a stage of that loop or the substrate beneath it.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411480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127C8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41148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359152" y="411480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05456" y="411480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505456" y="41148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178808" y="411480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25112" y="411480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127C8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325112" y="41148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998464" y="411480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44768" y="411480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144768" y="41148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818120" y="411480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964424" y="411480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127C8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964424" y="41148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637776" y="411480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784080" y="411480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784080" y="41148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5257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1–2 built the loop end-to-end at the platform layer; Phases 3–4 built the moat and the learning + safe-autonomy layers; the Root-Cause app is the first live signal producer on it.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supply chains fail quietly, then expensively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10996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562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837944"/>
            <a:ext cx="10213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hide in scale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368296"/>
            <a:ext cx="10671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single-store stockout is diluted across 50 stores and thousands of SKUs — it never crosses a chain-wide threshold until the sales are already lost.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62072"/>
            <a:ext cx="1110996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3026664"/>
            <a:ext cx="384048" cy="384048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61872" y="3008376"/>
            <a:ext cx="10213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without the 'why'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3538728"/>
            <a:ext cx="10671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flag that something moved; they rarely explain the root cause across demand, inventory, supply and financial signals in one place.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32504"/>
            <a:ext cx="1110996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41970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4178808"/>
            <a:ext cx="10213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measured recovery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" y="4709160"/>
            <a:ext cx="10671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act on gut, in the ERP, with no record of whether the action worked — so nobody learns which response actually recovers value.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202936"/>
            <a:ext cx="1110996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5367528"/>
            <a:ext cx="384048" cy="384048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5367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5349240"/>
            <a:ext cx="10213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Best-of-breed blind spots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" y="5879592"/>
            <a:ext cx="10671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RELEX / Blue Yonder / Slimstock forecast and replenish well, but their exception intelligence is shallow — and the ERP has none.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platform with apps on top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 (signal producers)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974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938528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Intelligence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403604" y="2377440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03604" y="237744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64992" y="1874520"/>
            <a:ext cx="26974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938528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Assortment Intelligence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19956" y="2377440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6C7A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19956" y="237744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81344" y="1874520"/>
            <a:ext cx="26974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91072" y="1938528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Execution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036308" y="2377440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6C7A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36308" y="237744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97696" y="1874520"/>
            <a:ext cx="26974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07424" y="1938528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Intelligence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852660" y="2377440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6C7A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852660" y="237744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063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 (shared, governed spine — 26 modules)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401568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76072" y="340156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Hierarchies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2432304" y="3401568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459736" y="340156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315968" y="3401568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343400" y="340156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Bitemporal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6199632" y="3401568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27064" y="340156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8083296" y="3401568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110728" y="340156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9966960" y="3401568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994392" y="340156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/ Clustering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486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76072" y="393192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(write-back)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2432304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2459736" y="393192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4315968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343400" y="393192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6199632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227064" y="393192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Feed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8083296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110728" y="393192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Extensibility</a:t>
            </a:r>
            <a:endParaRPr lang="en-US" sz="860" dirty="0"/>
          </a:p>
        </p:txBody>
      </p:sp>
      <p:sp>
        <p:nvSpPr>
          <p:cNvPr id="44" name="Shape 42"/>
          <p:cNvSpPr/>
          <p:nvPr/>
        </p:nvSpPr>
        <p:spPr>
          <a:xfrm>
            <a:off x="99669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994392" y="393192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860" dirty="0"/>
          </a:p>
        </p:txBody>
      </p:sp>
      <p:sp>
        <p:nvSpPr>
          <p:cNvPr id="46" name="Shape 44"/>
          <p:cNvSpPr/>
          <p:nvPr/>
        </p:nvSpPr>
        <p:spPr>
          <a:xfrm>
            <a:off x="548640" y="4462272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76072" y="4462272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860" dirty="0"/>
          </a:p>
        </p:txBody>
      </p:sp>
      <p:sp>
        <p:nvSpPr>
          <p:cNvPr id="48" name="Shape 46"/>
          <p:cNvSpPr/>
          <p:nvPr/>
        </p:nvSpPr>
        <p:spPr>
          <a:xfrm>
            <a:off x="2432304" y="4462272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2459736" y="4462272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/ Guardrails</a:t>
            </a:r>
            <a:endParaRPr lang="en-US" sz="860" dirty="0"/>
          </a:p>
        </p:txBody>
      </p:sp>
      <p:sp>
        <p:nvSpPr>
          <p:cNvPr id="50" name="Shape 48"/>
          <p:cNvSpPr/>
          <p:nvPr/>
        </p:nvSpPr>
        <p:spPr>
          <a:xfrm>
            <a:off x="4315968" y="4462272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4343400" y="4462272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60" dirty="0"/>
          </a:p>
        </p:txBody>
      </p:sp>
      <p:sp>
        <p:nvSpPr>
          <p:cNvPr id="52" name="Shape 50"/>
          <p:cNvSpPr/>
          <p:nvPr/>
        </p:nvSpPr>
        <p:spPr>
          <a:xfrm>
            <a:off x="6199632" y="4462272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227064" y="4462272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860" dirty="0"/>
          </a:p>
        </p:txBody>
      </p:sp>
      <p:sp>
        <p:nvSpPr>
          <p:cNvPr id="54" name="Shape 52"/>
          <p:cNvSpPr/>
          <p:nvPr/>
        </p:nvSpPr>
        <p:spPr>
          <a:xfrm>
            <a:off x="8083296" y="4462272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110728" y="4462272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860" dirty="0"/>
          </a:p>
        </p:txBody>
      </p:sp>
      <p:sp>
        <p:nvSpPr>
          <p:cNvPr id="56" name="Shape 54"/>
          <p:cNvSpPr/>
          <p:nvPr/>
        </p:nvSpPr>
        <p:spPr>
          <a:xfrm>
            <a:off x="9966960" y="4462272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994392" y="4462272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860" dirty="0"/>
          </a:p>
        </p:txBody>
      </p:sp>
      <p:sp>
        <p:nvSpPr>
          <p:cNvPr id="58" name="Shape 56"/>
          <p:cNvSpPr/>
          <p:nvPr/>
        </p:nvSpPr>
        <p:spPr>
          <a:xfrm>
            <a:off x="548640" y="4992624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576072" y="4992624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860" dirty="0"/>
          </a:p>
        </p:txBody>
      </p:sp>
      <p:sp>
        <p:nvSpPr>
          <p:cNvPr id="60" name="Shape 58"/>
          <p:cNvSpPr/>
          <p:nvPr/>
        </p:nvSpPr>
        <p:spPr>
          <a:xfrm>
            <a:off x="2432304" y="4992624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2459736" y="4992624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860" dirty="0"/>
          </a:p>
        </p:txBody>
      </p:sp>
      <p:sp>
        <p:nvSpPr>
          <p:cNvPr id="62" name="Shape 60"/>
          <p:cNvSpPr/>
          <p:nvPr/>
        </p:nvSpPr>
        <p:spPr>
          <a:xfrm>
            <a:off x="4315968" y="4992624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4343400" y="4992624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Tenancy</a:t>
            </a:r>
            <a:endParaRPr lang="en-US" sz="860" dirty="0"/>
          </a:p>
        </p:txBody>
      </p:sp>
      <p:sp>
        <p:nvSpPr>
          <p:cNvPr id="64" name="Shape 62"/>
          <p:cNvSpPr/>
          <p:nvPr/>
        </p:nvSpPr>
        <p:spPr>
          <a:xfrm>
            <a:off x="6199632" y="4992624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6227064" y="4992624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860" dirty="0"/>
          </a:p>
        </p:txBody>
      </p:sp>
      <p:sp>
        <p:nvSpPr>
          <p:cNvPr id="66" name="Shape 64"/>
          <p:cNvSpPr/>
          <p:nvPr/>
        </p:nvSpPr>
        <p:spPr>
          <a:xfrm>
            <a:off x="8083296" y="4992624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8110728" y="4992624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860" dirty="0"/>
          </a:p>
        </p:txBody>
      </p:sp>
      <p:sp>
        <p:nvSpPr>
          <p:cNvPr id="68" name="Shape 66"/>
          <p:cNvSpPr/>
          <p:nvPr/>
        </p:nvSpPr>
        <p:spPr>
          <a:xfrm>
            <a:off x="9966960" y="4992624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9994392" y="4992624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860" dirty="0"/>
          </a:p>
        </p:txBody>
      </p:sp>
      <p:sp>
        <p:nvSpPr>
          <p:cNvPr id="70" name="Shape 68"/>
          <p:cNvSpPr/>
          <p:nvPr/>
        </p:nvSpPr>
        <p:spPr>
          <a:xfrm>
            <a:off x="548640" y="5522976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576072" y="5522976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860" dirty="0"/>
          </a:p>
        </p:txBody>
      </p:sp>
      <p:sp>
        <p:nvSpPr>
          <p:cNvPr id="72" name="Shape 70"/>
          <p:cNvSpPr/>
          <p:nvPr/>
        </p:nvSpPr>
        <p:spPr>
          <a:xfrm>
            <a:off x="2432304" y="5522976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2459736" y="5522976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860" dirty="0"/>
          </a:p>
        </p:txBody>
      </p:sp>
      <p:sp>
        <p:nvSpPr>
          <p:cNvPr id="74" name="Text 72"/>
          <p:cNvSpPr txBox="1"/>
          <p:nvPr/>
        </p:nvSpPr>
        <p:spPr>
          <a:xfrm>
            <a:off x="548640" y="6172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hard rule:  Apps → Platform allowed  ·  App → App forbidden  ·  Platform → App forbidden  — enforced by an architecture test on every build.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built, and how far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27C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060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phases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framework-complete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64992" y="16459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64992" y="17830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26060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platform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81344" y="16459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81344" y="17830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9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8/8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272784" y="26060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Phase-4 CI runs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97696" y="16459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97696" y="17830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9089136" y="26060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detection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in the app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54864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68096" y="3575304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— framework-complete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032504"/>
            <a:ext cx="4992624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Canonical Core — LIVE on prod (hierarchies, events, bitemporal, metrics, features)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Close the Loop — outbound intent, objectives, prescriptive engine, planning feed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Moat — extensibility, batch/expiry traceability, data contracts + metering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Learn/Trust/Autonomy — guardrails, data-confidence, memory, evaluation, explainability, multi-objective, orchestration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Deferred: real-data wiring + UI surfacing (consumer step); Peer Intelligence spun to its own app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429000"/>
            <a:ext cx="54864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391656" y="3575304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— Root-Cause Intelligence (in product)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4032504"/>
            <a:ext cx="4992624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34-rule deterministic detection engine + incremental runs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Best-fit demand layer (Croston/SBA) for a ~78% intermittent catalogue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+ evidence + deterministic causal inference (B8)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root-cause narration (Claude Haiku) — narrates, never decides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 replenishment, tracked actions, ROI value-funnel, learning loop (B1–B8)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3832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Platform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262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shared, governed spine every app projects from — data model, closed decision loop, moat, and the learning + safe-autonomy layer. Built platform-first, verified live on production, additive throughout.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3310128"/>
            <a:ext cx="2011680" cy="0"/>
          </a:xfrm>
          <a:prstGeom prst="line">
            <a:avLst/>
          </a:prstGeom>
          <a:noFill/>
          <a:ln w="31750">
            <a:solidFill>
              <a:srgbClr val="2FB6A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FOUNDATION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Platform-first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is a modular monolith with enforced module boundaries — one Laravel deployment, not microservices, so the signal→task loop keeps its transactional integrity. Modules are classified by what code IS, not where it sits, and a build-time test stops new coupling from forming.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68096" y="2798064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rule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55264"/>
            <a:ext cx="4992624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→ Platform: ALLOWED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 → App B: FORBIDDEN (apps never depend on each other)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→ App: FORBIDDEN (the platform never depends on an app)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 ArchitectureBoundaryTest — scans use-imports across the service + model layer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debt is baselined and burned down, never grown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apps 2 &amp; 3 attach as signal producers, not bolt-ons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65176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391656" y="2798064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discipline (how every milestone landed)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3255264"/>
            <a:ext cx="4992624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only — the running app + UI were never disturbed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→ auto-push → GitHub → CI (PostgreSQL) → promote → Laravel Cloud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is the gate: a red build physically cannot reach production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500-prevention: compile gate, CI smoke tests, pre-push linter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platform milestone deployed AND verified on production, then cleaned up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model↔table naming guard after one CI catch (INC-012)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PHASE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Canonical Platform 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C682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app-specific schemas into one shared, governed substrate every app projects from. This is the leverage: everything downstream is cheap on top of a good core.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615184"/>
            <a:ext cx="10213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entity + hierarchy model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3145536"/>
            <a:ext cx="10671048" cy="-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· Product · Supplier · Calendar · Promotion — roll-up/drill-down at any level    —    50 nodes · 7 cat / 2,000 SKU · 240 suppliers · 1,096 days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48640" y="3255264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419856"/>
            <a:ext cx="384048" cy="384048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3401568"/>
            <a:ext cx="10213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backbone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68096" y="3931920"/>
            <a:ext cx="10671048" cy="-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typed fact stream; a run is reproducible from events    —    append/replay + live capture + idempotent backfill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48640" y="4041648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4206240"/>
            <a:ext cx="384048" cy="384048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9808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61872" y="4187952"/>
            <a:ext cx="10213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Bitemporal layer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68096" y="4718304"/>
            <a:ext cx="10671048" cy="-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Valid-time + system-time; reconstruct any past state 'as we knew it then'    —    recorded_at + supersede + effective-on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48640" y="4828032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" y="4992624"/>
            <a:ext cx="384048" cy="384048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9808" y="4992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261872" y="4974336"/>
            <a:ext cx="10213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metric layer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68096" y="5504688"/>
            <a:ext cx="10671048" cy="-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Governed, versioned KPI definitions; surfaces read, never recompute    —    registry + service; 5 KPIs computing on prod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548640" y="5614416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9808" y="5779008"/>
            <a:ext cx="384048" cy="384048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9808" y="5779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261872" y="5760720"/>
            <a:ext cx="10213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768096" y="6291072"/>
            <a:ext cx="10671048" cy="-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entity + time-series features shared by every model    —    feature_values + FeatureStore; 900 features synced</a:t>
            </a:r>
            <a:endParaRPr lang="en-US" sz="108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verified live 2026-09-05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PHASE 1 · P1.1–P1.3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Canonical model, events &amp;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C682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canonical, hierarchical, append-only, time-aware substrate underneath every app — so a fact means the same thing everywhere and history is never destroyed.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99232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Hierarchies: banner→region→DC→store, category→sub→SKU, supplier groups, calendar, effective-dated promotions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Roll-up and drill-down at any level via the canonical model, not per-app joins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backbone: append-only typed facts (sales, receipts, adjustments, actions, outcomes) — snapshots kept separate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Bitemporal: valid-time + system-time, supersede-on-change, as-of queries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160020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60336" y="174650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60336" y="2203704"/>
            <a:ext cx="4224528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HasHierarchy + HasEffectiveDating traits · LocationNode / ProductNode / SupplierNode / CalendarNode / PromotionNode · platform_events + EventStore + idempotent backfill · recorded_at columns for as-of reconstruction.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411480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4617720"/>
            <a:ext cx="4224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 is reproducible from events, and any past state is reconstructable exactly as it was known then — the basis of trustworthy audit, replay and learning.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Platform\Data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PHASE 1 · P1.4–P1.5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metrics &amp; the feature store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C682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source of truth for what every KPI means and how it's computed, plus a shared store of the features every model reads — so surfaces never recompute and models never diverge.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99232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registry: versioned KPI definitions (bump the version when the formula changes)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read metric values from the layer — zero local recomputation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store: generalised store_features / sku_profiles into versioned entity + time-series features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clustering and forecasting all read the same feature views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160020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60336" y="174650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60336" y="2203704"/>
            <a:ext cx="4224528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MetricDefinition + MetricRegistry + MetricService (5 Root-Cause KPIs live) · feature_values table + FeatureStore + SyncFeaturesCommand (900 features synced on prod).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411480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4617720"/>
            <a:ext cx="4224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and governance: one definition of 'waste rate' or 'availability', versioned and auditable, feeding every app and model identically.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Platform\Metrics · Platform\Features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PHASE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C682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advising humans to orchestrating systems of record, and from diagnostic to prescriptive. The moat here is the DECISION, not the plumbing — Autnyx emits one canonical action-intent and lets existing integration layers carry it.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6791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660904"/>
            <a:ext cx="10213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integration surface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3191256"/>
            <a:ext cx="1067104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action-intent (v1.0) + connectors + round-trip record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5935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3593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3575304"/>
            <a:ext cx="10213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Objective-driven intelligence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" y="4105656"/>
            <a:ext cx="1067104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computed for an objective: availability / margin / waste / working capital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45079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9808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61872" y="4489704"/>
            <a:ext cx="10213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 decision layer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" y="5020056"/>
            <a:ext cx="1067104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carry expected value, confidence &amp; risk; execute closes the loop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25780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" y="54223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9808" y="542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261872" y="5404104"/>
            <a:ext cx="10213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↔ planning feed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68096" y="5934456"/>
            <a:ext cx="1067104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forecasts/planned orders as baseline; publish exceptions/recovery back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verified live 2026-09-06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PHASE 2 · P2.1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Outbound integration surface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C682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canonical 'action-intent' emitted once, plus generic surfaces and a bounded set of flagship connectors — so integration doesn't die under an unbounded per-app connector count.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99232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action_intent contract v1.0 — the single decision shape, target-independent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surfaces (REST / webhook / file) for the long tail; customer iPaaS fans out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Connectors: webhook + log today; flagship targets on the roadmap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dispatch records the round-trip (sent / acknowledged / failed) — auditable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160020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60336" y="174650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60336" y="2203704"/>
            <a:ext cx="4224528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ActionIntent (versioned envelope) · OutboundTarget + OutboundDispatch · WebhookConnector / LogConnector + ConnectorFactory · OutboundDispatcher records request + response, never throws.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411480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4617720"/>
            <a:ext cx="4224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'Integrate to hubs, not endpoints.' The moat is the decision emitted once; adapting only at the connector edge stops a bespoke integration per app.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Platform\Integration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PHASE 2 · P2.1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write-back target is the tenant's system of record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6C7A9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per tenant — and it is NOT always the ERP. Many grocers run a best-of-breed F&amp;R tool with the ERP beneath. The flagship set is bounded; everything else routes through generic surfaces + the customer's iPaaS.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68096" y="2569464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ERP-native replenishment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26664"/>
            <a:ext cx="4992624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S/4HANA — on-prem + private (RISE) + public cloud — target: MRP (OData / released APIs)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Dynamics 365 — Business Central + Finance &amp; Operations — Master Planning / Planning Optimization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Fusion Cloud SCM/ERP only (not Oracle Retail, not NetSuite) — Supply Chain Planning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242316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91656" y="2569464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F&amp;R (common in grocery)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026664"/>
            <a:ext cx="4992624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RELEX — flagship, dominant in grocery — forecast/order overrides, reorder points, exceptions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Yonder (Luminate) — where a base concentrates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Slimstock (Slim4) — reorder points, order proposals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F&amp;R tools are a SOURCE and a TARGET — they produce the plan Autnyx measures reality against, and receive exceptions back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126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Positioning: Autnyx does NOT replace RELEX / BY / Slimstock — it is the root-cause / exception-intelligence layer above them.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PHASE 2 · P2.2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Objective-driven intelligence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C682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Generalises the clustering objective-seam platform-wide: every output — detection, cluster, recommendation — is computed for a business objective, not a single hard-wired KPI.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99232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objectives: general, availability, margin, waste, working capital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objective carries a per-rule weight map (focused defaults + boosts)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tenant selects an objective; outputs and rankings reflect it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Tenant.activeObjective() drives the weighting everywhere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160020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60336" y="174650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60336" y="2203704"/>
            <a:ext cx="4224528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+ ObjectiveRegistry + weighted ObjectiveScorer (score = weight × impact, ranked). Objectives registered by the app in the service provider — platform stays app-agnostic.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411480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4617720"/>
            <a:ext cx="4224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anomaly matters differently to an availability-led grocer vs a margin-led one. One engine, tenant-chosen lens — no forked logic.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Platform\Objectives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PHASE 2 · P2.3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Prescriptive decision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C682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'here's an anomaly' into 'here's the action, its expected value, how confident we are and the risk' — then closes the loop by executing through the P2.1 surface and measuring realization.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99232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carries expected value, confidence (0–1) and risk (0–1)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= expected value × (1 − risk) × confidence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labels: established / probable / suspected / unknown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execute() builds an action-intent → dispatches → returns the round-trip; realizationRate = observed ÷ expected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160020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60336" y="174650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60336" y="2203704"/>
            <a:ext cx="4224528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DTO + RecommendationScore + DecisionEngine. Verified on prod: EV 10,000 × (1−0.25) × 0.8 → risk-adjusted 7,500, priority 6,000, label 'probable'; closed-loop dispatch status=sent, contract v1.0.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411480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4617720"/>
            <a:ext cx="4224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by risk-adjusted value, not raw size — and measure whether the action actually recovered the value it promised.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Platform\Recommendation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PHASE 2 · P2.4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Bidirectional sensing ↔ planning feed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C682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the tenant's forecasts/planned orders as the baseline detection measures reality against, and publishes root-cause / recovery signals + exceptions back into planning — a continuous, acknowledged feed.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99232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Inbound: plan_forecasts — expected demand &amp; planned order per sku-store-day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Outbound: planning_signals — publish → pull → acknowledge (at-least-once feed)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SignalEnvelope (v1.0) so a receiver maps it once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to planning, never a planning tool itself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160020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60336" y="174650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60336" y="2203704"/>
            <a:ext cx="4224528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ForecastPoint / ForecastIngestor / ForecastBaseline (in) · PlanningSignalFeed + SignalEnvelope (out). Verified: ingest→baseline 42/40, publish→feed exception delta −120, ack→feed empties.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411480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4617720"/>
            <a:ext cx="4224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sits on both sides of the planning system — consuming its plan and feeding back where reality diverged and why — without trying to be the planner.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Platform\Planning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PHASE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Moat &amp; Platform Economics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C682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data advantage, enterprise configurability, and sellable-app mechanics. P3.1 (cross-tenant benchmarking) was spun out into its own app — Peer Intelligence — because it's a different data plane with a network effect.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724912"/>
            <a:ext cx="384048" cy="384048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706624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Extensibility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3035808" y="2706624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C682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35808" y="270662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236976"/>
            <a:ext cx="316382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Tenant-defined KPIs, rules &amp; custom dimensions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as data rows — no schema change to add one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 no-eval AST evaluator runs tenant formulas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gate: dimensions declared before use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43400" y="256032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2724912"/>
            <a:ext cx="384048" cy="384048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44568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56632" y="2706624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data model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830568" y="2706624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C6820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30568" y="270662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3236976"/>
            <a:ext cx="316382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/ batch / expiry / cold-chain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Chain-of-custody traceability + on-hand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anomalies (expired-in-stock, expiring)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events: recall, temp excursion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pharma / FMCG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38160" y="256032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39328" y="2724912"/>
            <a:ext cx="384048" cy="384048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39328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851392" y="2706624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+ metering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10488168" y="2706624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C6820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488168" y="270662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3236976"/>
            <a:ext cx="302666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data contracts with SLAs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recorded: missing cols, stale, empty, below-min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/ per-app usage meters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billing + packaging substrate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verified live 2026-09-06  ·  P3.1 → Peer Intelligence (roadmap)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PHASE 3 · P3.2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Extensibility without migrations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C682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 tenant add a KPI, a detection rule and a custom dimension as pure data — no code change, no migration — with tenant formulas evaluated safely and never able to execute code.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99232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KPIs, rules and attributes stored as rows (custom_*_definitions)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 AST evaluator (const/var/op) — never eval() — runs the expressions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gate: a dimension must be declared before values can be stored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on prod: KPI 30/200 = 0.15, a rule fired, a dimension stored &amp; coerced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160020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60336" y="174650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60336" y="2203704"/>
            <a:ext cx="4224528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Expression\Evaluator (whitelisted ops, null-safe, divide-by-zero → null) · CustomMetricService · RuleEvaluator · AttributeStore · ExtensibilityRegistry.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411480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4617720"/>
            <a:ext cx="4224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 the customisation tax — enterprise deals die on 'can it handle OUR exception logic?' The answer becomes yes, without a dev cycle per customer.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Platform\Extensibility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PHASE 3 · P3.3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Vertical data model — batch, expiry, cold-chain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C682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primitive that opens regulated verticals: a physical lot with expiry and cold-chain, its full chain of custody, expiry anomalies, and a compliance/recall audit trail.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99232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with production/expiry dates, cold-chain flag, lifecycle status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Chain-of-custody movements → traceability + on-hand (verified: 100 in − 30 sold = 70)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monitor: expired-but-in-stock (critical) + expiring-soon (warning)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log: recall flips batch status + logs a critical event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160020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60336" y="174650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60336" y="2203704"/>
            <a:ext cx="4224528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/ batch_movements / compliance_events · BatchTraceability (trace, on-hand, locate) · ExpiryMonitor (anomalies) · ComplianceLog (recall, cold-chain breaches).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411480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4617720"/>
            <a:ext cx="4224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Batch/expiry anomalies + traceability end-to-end is exactly what pharma and FMCG need that generic grocery does not — a market-opening capability.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Platform\Traceability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PHASE 3 · P3.4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contracts + entitlements/metering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C682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data_health into an enforceable ingestion contract with SLAs, and meters per-tenant/per-app usage — the substrate that makes each app independently packageable and billable.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99232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Contracts: required columns, freshness SLA, minimum rows per feed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recorded by kind: missing_columns, stale, empty, below_min_rows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meters per tenant × app × metric × period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on prod: 3 violation kinds recorded from one bad ingestion; usage metered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160020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60336" y="174650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60336" y="2203704"/>
            <a:ext cx="4224528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data_contracts / contract_violations / usage_meters · ContractRegistry + ContractEvaluator · MeteringService (record, aggregate per app/period).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411480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4617720"/>
            <a:ext cx="4224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trust (ingestion violations surface against an agreed spec) plus the mechanism to sell App 2 and App 3 as metered, packaged products.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Platform\Governance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PHASE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Learn, Trust &amp; Autonomy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C682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loop — the thinnest ends were Learn (store outcomes but don't learn) and safe Execute (dispatch but no guardrails). Phase 4 fills both and makes the pieces act as one system.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2807208"/>
            <a:ext cx="384048" cy="384048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94944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264261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engine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170432" y="308152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0432" y="3081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251460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43984" y="2807208"/>
            <a:ext cx="384048" cy="384048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43984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919472" y="264261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→ confidence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919472" y="308152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19472" y="3081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0" y="251460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93024" y="2807208"/>
            <a:ext cx="384048" cy="384048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93024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668512" y="264261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memory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668512" y="308152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68512" y="3081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621024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4944" y="3913632"/>
            <a:ext cx="384048" cy="384048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94944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70432" y="37490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evaluation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170432" y="418795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170432" y="4187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97680" y="3621024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43984" y="3913632"/>
            <a:ext cx="384048" cy="384048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443984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919472" y="37490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contract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919472" y="418795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919472" y="4187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46720" y="3621024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93024" y="3913632"/>
            <a:ext cx="384048" cy="384048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193024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668512" y="37490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optimisation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8668512" y="418795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668512" y="4187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4727448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4944" y="5020056"/>
            <a:ext cx="384048" cy="384048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94944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1170432" y="485546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+ autonomy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1170432" y="529437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170432" y="5294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297680" y="4727448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443984" y="5020056"/>
            <a:ext cx="384048" cy="384048"/>
          </a:xfrm>
          <a:prstGeom prst="ellipse">
            <a:avLst/>
          </a:prstGeom>
          <a:solidFill>
            <a:srgbClr val="6C7A96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4443984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4919472" y="485546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/ what-if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4919472" y="529437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6C7A9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919472" y="5294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046720" y="4727448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193024" y="5020056"/>
            <a:ext cx="384048" cy="384048"/>
          </a:xfrm>
          <a:prstGeom prst="ellipse">
            <a:avLst/>
          </a:prstGeom>
          <a:solidFill>
            <a:srgbClr val="6C7A96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193024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8668512" y="485546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copilot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8668512" y="529437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6C7A96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8668512" y="5294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framework-buildable slice complete 2026-09-07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PHASE 4 · P4.1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/ guardrail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C682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Tenant-defined hard constraints checked against every action-intent before it can be dispatched — the safety layer and the prerequisite for any autonomy.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99232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like: never delist a strategic SKU; no cross-temp-zone transfer; max €X movement; min-confidence to auto-execute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effects: block · warn · require approval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the P3.2 safe evaluator — guardrails are declarative data, never code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qty 2000 &gt; 1000 blocked; confidence 0.6 &lt; 0.8 → requires approval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160020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60336" y="174650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60336" y="2203704"/>
            <a:ext cx="4224528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policy_rules + PolicyRule · PolicyRegistry · PolicyEngine.decideForIntent(ActionIntent) reads fields + metadata · PolicyDecision (blocked / requiresApproval / allowed + reasons).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411480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4617720"/>
            <a:ext cx="4224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'it will never do X' story sells enterprise trust — and nothing can auto-execute past a hard rule.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Platform\Policy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PHASE 4 · P4.2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Data-quality → confidence propagation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C682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discounts a recommendation's confidence when the data feeding it has breached its contract — with the reason attached, never a silent low number.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99232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open P3.4 contract breaches on the specific feeds a recommendation depends 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confidence, floored at 0.2 (a degraded signal is still a signal)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human reasons ('sales_daily: stale')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stale feed → factor 0.7, confidence 0.9 → 0.63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160020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60336" y="174650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60336" y="2203704"/>
            <a:ext cx="4224528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DataConfidence + ConfidenceAdjustment. Penalty per breach kind (empty 0.5, stale/missing 0.3, below-min 0.15), compounded and floored. No new table — reads contract_violations.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411480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4617720"/>
            <a:ext cx="4224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'Inventory data is unreliable for 37 stores, so inventory recommendations are low-confidence right now' — the trust move that keeps a CFO believing the number.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Platform\Trust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PHASE 4 · P4.3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memory (the case base)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C682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primitive that turns Autnyx from reactive to learning — every recommendation stored as its full arc, with similarity retrieval over past situations.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99232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→ Evidence → Recommendation → Decision → Action → Outcome, per case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Cosine-similarity retrieval finds the most similar past situations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successRate answers 'in similar situations, rec X succeeded N%'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nearest situation at similarity 0.9999; 'reorder succeeded 67%, avg realization 0.567'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160020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60336" y="174650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60336" y="2203704"/>
            <a:ext cx="4224528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decision_cases + DecisionCase · CaseRecorder (records arc + closes with realization rate) · CaseRetrieval (similarity + successRate) · Similarity util (cosine).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411480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4617720"/>
            <a:ext cx="4224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capability jump on the list: the platform learns which responses actually recover value, instead of repeating the same guess.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Platform\Memory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PHASE 4 · P4.4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evaluation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C682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continuous, cross-app quality scorecard computed from decision memory — including a calibration gap that reveals where the AI is systematically over- or under-confident.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99232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intent-type / objective / overall: adoption, success rate, avg realization, avg confidence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gap = predicted confidence − actual success rate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persisted for trend over time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reorder success 0.667 vs predicted 0.8 → gap 0.133 'overconfident'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160020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60336" y="174650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60336" y="2203704"/>
            <a:ext cx="4224528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IntelligenceScorecard (aggregates decision_cases) · EvaluationService.snapshot → evaluation_snapshots. Complements existing Quality precision/recall + realizationRate.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411480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4617720"/>
            <a:ext cx="4224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Self-auditing intelligence: the platform measures how good it actually is, by use case, and flags where its confidence needs recalibrating.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Platform\Evaluation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PHASE 4 · P4.6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Multi-objective optimisation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C682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outputs against a weighted blend of objectives — availability + margin + waste + working capital together — with each objective's contribution and the Pareto tradeoff made explicit.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99232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weighting blend (normalised); score = Σ weight × impact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Per-objective contributions surfaced — the tradeoff is legible, not hidden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Pareto-domination flags candidates beaten on every objective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80/20 availability blend picks the availability play; frontier keeps the two non-dominated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160020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60336" y="174650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60336" y="2203704"/>
            <a:ext cx="4224528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objective_weights + ObjectiveWeight · WeightingRegistry · MultiObjectiveScorer (blend + contributions + Pareto) · MultiObjectiveScore DTO.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411480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4617720"/>
            <a:ext cx="4224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decisions trade availability against margin against cash. One engine ranks on the tenant's actual priorities, transparently.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Platform\Objectives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PHASE 4 · P4.5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Universal explainability contract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C682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canonical explanation shape every intelligence output emits — assembling impact, confidence, evidence, risk and reasons from all the pieces the platform already produces.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99232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Explanation: headline, impact, confidence + label, risk, objective, evidence[], reasons[], expected outcome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assembles it from a Recommendation, or straight from an orchestration outcome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confidence vocabulary matches the decision engine everywhere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base explanation + an orchestration outcome mapped into the same 10-key shape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160020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60336" y="174650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60336" y="2203704"/>
            <a:ext cx="4224528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DTO + ExplanationBuilder (from Recommendation, fluent evidence/reasons, fromOrchestration). Pure contract, no table.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411480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4617720"/>
            <a:ext cx="4224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 — now and future — explains 'why' the same way, so one drill-in UI serves them all. Consistency is the trust surface.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Platform\Explainability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PHASE 4 · P4.8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orchestration + autonomy levels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C682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capstone that makes every Phase-4 piece act as one system: a decision flows through the whole safe-execution loop at a tenant-chosen level of independence.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99232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discount (P4.2) → memory (P4.3) → guardrail (P4.1) → route → execute (P2.1) → remember (P4.3)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levels: advise (default, safest) · approve (staged for a human) · auto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fires only when guardrails pass AND confidence clears the tenant threshold — else it falls back to approval, with the reason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auto+safe→executed, low-confidence→queued, guardrail→blocked, no-policy→advised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160020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60336" y="174650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60336" y="2203704"/>
            <a:ext cx="4224528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autonomy_policies + approval_queue · AutonomyRegistry (advise/approve/auto + threshold) · OrchestrationPipeline · OrchestrationOutcome (fully explained). App-neutral; the Root-Cause trigger adapter is app-side.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411480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4617720"/>
            <a:ext cx="4224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you can trust: it acts on its own only when confident and safe, and defers — visibly, with reasons — when it isn't. Defaults to advise.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Platform\Orchestration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THE CLOSED LOOP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737360"/>
            <a:ext cx="342900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883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83664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2860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from an app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1737360"/>
            <a:ext cx="3429000" cy="1051560"/>
          </a:xfrm>
          <a:prstGeom prst="roundRect">
            <a:avLst>
              <a:gd name="adj" fmla="val 7826"/>
            </a:avLst>
          </a:prstGeom>
          <a:solidFill>
            <a:srgbClr val="127C8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26864" y="1883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1883664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2860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× (1−risk) × confidence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83880" y="1737360"/>
            <a:ext cx="342900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30184" y="1883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732520" y="1883664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732520" y="22860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data quality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044952"/>
            <a:ext cx="3429000" cy="1051560"/>
          </a:xfrm>
          <a:prstGeom prst="roundRect">
            <a:avLst>
              <a:gd name="adj" fmla="val 7826"/>
            </a:avLst>
          </a:prstGeom>
          <a:solidFill>
            <a:srgbClr val="127C8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3544" y="3191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191256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35935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past cases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3044952"/>
            <a:ext cx="342900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26864" y="3191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3191256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35935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83880" y="3044952"/>
            <a:ext cx="3429000" cy="1051560"/>
          </a:xfrm>
          <a:prstGeom prst="roundRect">
            <a:avLst>
              <a:gd name="adj" fmla="val 7826"/>
            </a:avLst>
          </a:prstGeom>
          <a:solidFill>
            <a:srgbClr val="127C8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30184" y="3191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3191256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35935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 / approve / auto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7240" y="4352544"/>
            <a:ext cx="342900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498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44988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325880" y="490118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action-intent → target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80560" y="4352544"/>
            <a:ext cx="3429000" cy="1051560"/>
          </a:xfrm>
          <a:prstGeom prst="roundRect">
            <a:avLst>
              <a:gd name="adj" fmla="val 7826"/>
            </a:avLst>
          </a:prstGeom>
          <a:solidFill>
            <a:srgbClr val="127C8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626864" y="4498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5029200" y="44988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0" y="490118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183880" y="4352544"/>
            <a:ext cx="342900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330184" y="4498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8732520" y="44988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8732520" y="490118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+ realization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a platform primitive built in Phases 1–4. The app supplies the signal; the platform runs the rest — safely, and learning as it goes.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FOUNDATION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Multi-tenancy, identity &amp; security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68096" y="1837944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Tenancy &amp; access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95144"/>
            <a:ext cx="499262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Filament-native multi-tenancy; every row tenant-scoped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OIDC, role-based access, owner-account protection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Per-screen visibility; entitlement-gated app navigation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panels: tenant admin + /ops control plane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91656" y="1837944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295144"/>
            <a:ext cx="499262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Tenant-isolated, encrypted storage (TenantStorage)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log; retention / purge; security headers; password policy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offboarding: export ZIP + typed-confirm erase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profile + password with current-password re-auth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68096" y="4123944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Data-in ingestion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864608" y="4123944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64608" y="412394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581144"/>
            <a:ext cx="499262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with AI-assisted column mapping; SFTP feeds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Large-file streaming (read-filter previews, constant memory)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Per-import rollback / undo; staged mapping review before commit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Data-health snapshots and scoring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397764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391656" y="4123944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&amp; 500-prevention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10488168" y="4123944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488168" y="412394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4581144"/>
            <a:ext cx="499262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/ops control plane: provisioning, usage, platform health, job runs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health-check command + failure alerting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gate + CI PostgreSQL smoke tests + pre-push linter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 build cannot reach production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INTELLIGENCE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intelligence &amp; store clustering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characterisation and store clustering as platform primitives with three declared consumers — root-cause, assortment and tasks all read the same peer sets and demand views.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99232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profiling + seasonality (SkuProfiler, SeasonalityService)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clustering strategy: attribute-based v0 (ships today), demand k-means v1 (swap-in)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cluster sets + manual cluster pins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read via a service façade, never the table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160020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60336" y="174650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60336" y="2203704"/>
            <a:ext cx="4224528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StoreProfiler · ClusteringStrategy + ClusteringStrategyFactory (AttributeClustering / DemandClustering / KMeans) · ClusterService + nightly rebuild · cluster_sets versioning + ClusterPin.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411480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4617720"/>
            <a:ext cx="4224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peer set for every store with zero data-maturity dependency today, and a learned upgrade path behind the same interface — the enabling layer for Assortment.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Platform\Intelligence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FUTURE APP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 Intelligence (spun out from P3.1)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6C7A9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Cross-tenant benchmarking is architecturally its own app — a different data plane with a network effect. Reframed as a three-stage data-plane evolution so it delivers value long before cross-tenant scale exists.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679192"/>
            <a:ext cx="384048" cy="384048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660904"/>
            <a:ext cx="10213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Intra-tenant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3191256"/>
            <a:ext cx="10671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store vs its cluster peers — rides existing clustering, zero cross-tenant data, valuable at customer #1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822192"/>
            <a:ext cx="384048" cy="384048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3803904"/>
            <a:ext cx="10213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Syndicated seed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" y="4334256"/>
            <a:ext cx="10671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 vs the market' from public/industry benchmarks — value before a peer cohort exists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0060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4965192"/>
            <a:ext cx="384048" cy="384048"/>
          </a:xfrm>
          <a:prstGeom prst="ellipse">
            <a:avLst/>
          </a:prstGeom>
          <a:solidFill>
            <a:srgbClr val="6C7A9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9808" y="4965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61872" y="4946904"/>
            <a:ext cx="10213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Cross-tenant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" y="5477256"/>
            <a:ext cx="10671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 peer cohorts — the network effect; needs scale + consent + a trust track record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989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truth captured up front: anonymisation alone rarely earns a retailer's 'yes' — it needs reciprocity, cohort-size floors, aggregate-only egress and a clean-room posture. Hence intra-tenant first.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3832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262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Intelligence — the first live app on the platform. Sense the exception, diagnose the cause, recommend the response, track the decision, and measure the recovery. Deterministic by design; AI narrates, never decides.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3310128"/>
            <a:ext cx="2011680" cy="0"/>
          </a:xfrm>
          <a:prstGeom prst="line">
            <a:avLst/>
          </a:prstGeom>
          <a:noFill/>
          <a:ln w="31750">
            <a:solidFill>
              <a:srgbClr val="2FB6A8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ROOT-CAUSE INTELLIGENCE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a measured recovery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10996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810512"/>
            <a:ext cx="384048" cy="384048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792224"/>
            <a:ext cx="10213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2322576"/>
            <a:ext cx="10671048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deterministic rules flag exceptions by impact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1110996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2615184"/>
            <a:ext cx="10213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3145536"/>
            <a:ext cx="10671048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anomalies into an investigation with evidence + inferred root cause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1110996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456432"/>
            <a:ext cx="384048" cy="384048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438144"/>
            <a:ext cx="10213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" y="3968496"/>
            <a:ext cx="10671048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narrates the finding in plain language (never chooses it)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1110996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42793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261872" y="4261104"/>
            <a:ext cx="10213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68096" y="4791456"/>
            <a:ext cx="10671048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Best-fit replenishment: reorder point, transfer, emergency PO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548640" y="4937760"/>
            <a:ext cx="1110996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5102352"/>
            <a:ext cx="384048" cy="384048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49808" y="5102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261872" y="5084064"/>
            <a:ext cx="10213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68096" y="5614416"/>
            <a:ext cx="10671048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as an owned Action — proposed → done — nothing pushed to the ERP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548640" y="5760720"/>
            <a:ext cx="1110996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" y="59253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49808" y="5925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261872" y="5907024"/>
            <a:ext cx="10213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68096" y="6437376"/>
            <a:ext cx="10671048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funnel: surfaced → at-risk → recovered → recovery rate → learning</a:t>
            </a:r>
            <a:endParaRPr lang="en-US" sz="118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Decision-support, not execution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DETECTION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detection engine — 34 deterministic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deterministic, impact-gated rule engine that flags supply-chain exceptions across demand, inventory, supply and financial signals — quiet without its data, ranked by value at risk.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99232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Families: availability (stockout, safety-stock, multi-location), inventory (negative, overstock, shrink, phantom, dead-stock)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(late-PO receipt, supplier fill-rate), demand (drop, spike, erosion trend), financial (margin erosion, price, return-rate)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Impact-first: money floors from each tenant's price/cost distribution; rules stay dormant without required inputs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+ cumulative rules (regression erosion, multi-snapshot shrink) catch what single-window thresholds miss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160020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60336" y="174650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60336" y="2203704"/>
            <a:ext cx="4224528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AnomalyDetectionService writes to anomalies via impact-gated flag(); rules span single-window, regression (regr_slope/r2 in SQL) and windowed LAG/LATERAL aggregations.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411480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4617720"/>
            <a:ext cx="4224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Fewer, higher-value alerts — a single-store problem isn't diluted across the chain, and unpriced noise is floored out.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Apps\RootCause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DETECTION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catalogue (selected)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532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600200"/>
            <a:ext cx="274320" cy="274320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60704" y="148132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risk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148132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demand-aware zero/low on-hand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481328"/>
            <a:ext cx="5532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45936" y="1600200"/>
            <a:ext cx="274320" cy="274320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29984" y="148132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Safety-stock breach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9006840" y="148132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derived reorder point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071116"/>
            <a:ext cx="5532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2189988"/>
            <a:ext cx="274320" cy="274320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60704" y="207111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imbalance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207111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vs shortfall across stores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2071116"/>
            <a:ext cx="5532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45936" y="2189988"/>
            <a:ext cx="274320" cy="274320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29984" y="207111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inventory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9006840" y="207111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on-hand &lt; 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2660904"/>
            <a:ext cx="5532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" y="2779776"/>
            <a:ext cx="274320" cy="274320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60704" y="266090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337560" y="266090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days-cover beyond threshold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2660904"/>
            <a:ext cx="5532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45936" y="2779776"/>
            <a:ext cx="274320" cy="274320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29984" y="266090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shrinkage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006840" y="266090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snapshot loss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250692"/>
            <a:ext cx="5532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" y="3369564"/>
            <a:ext cx="274320" cy="274320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60704" y="325069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shrink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3337560" y="325069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multi-snapshot leaks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3250692"/>
            <a:ext cx="5532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45936" y="3369564"/>
            <a:ext cx="274320" cy="274320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729984" y="325069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/ dead stock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9006840" y="325069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on-hand with no real demand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3840480"/>
            <a:ext cx="5532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6656" y="3959352"/>
            <a:ext cx="274320" cy="274320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060704" y="384048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late receipt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3337560" y="384048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materially after expected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3840480"/>
            <a:ext cx="5532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45936" y="3959352"/>
            <a:ext cx="274320" cy="274320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729984" y="384048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fill-rate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9006840" y="384048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under-fill across POs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8640" y="4430268"/>
            <a:ext cx="5532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6656" y="4549140"/>
            <a:ext cx="274320" cy="274320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060704" y="443026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erosion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3337560" y="443026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negative regression trend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17920" y="4430268"/>
            <a:ext cx="5532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45936" y="4549140"/>
            <a:ext cx="274320" cy="274320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729984" y="443026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drop / spike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9006840" y="443026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window-over-window swing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48640" y="5020056"/>
            <a:ext cx="5532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6656" y="5138928"/>
            <a:ext cx="274320" cy="274320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1060704" y="502005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erosion</a:t>
            </a:r>
            <a:endParaRPr lang="en-US" sz="1150" dirty="0"/>
          </a:p>
        </p:txBody>
      </p:sp>
      <p:sp>
        <p:nvSpPr>
          <p:cNvPr id="57" name="Text 55"/>
          <p:cNvSpPr txBox="1"/>
          <p:nvPr/>
        </p:nvSpPr>
        <p:spPr>
          <a:xfrm>
            <a:off x="3337560" y="502005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decay vs baseline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217920" y="5020056"/>
            <a:ext cx="5532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45936" y="5138928"/>
            <a:ext cx="274320" cy="274320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729984" y="502005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anomaly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9006840" y="502005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below-cost / price movement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48640" y="5609844"/>
            <a:ext cx="5532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6656" y="5728716"/>
            <a:ext cx="274320" cy="274320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1060704" y="560984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Return-rate spike</a:t>
            </a:r>
            <a:endParaRPr lang="en-US" sz="1150" dirty="0"/>
          </a:p>
        </p:txBody>
      </p:sp>
      <p:sp>
        <p:nvSpPr>
          <p:cNvPr id="65" name="Text 63"/>
          <p:cNvSpPr txBox="1"/>
          <p:nvPr/>
        </p:nvSpPr>
        <p:spPr>
          <a:xfrm>
            <a:off x="3337560" y="560984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vs baseline (+ returns dataset)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217920" y="5609844"/>
            <a:ext cx="5532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345936" y="5728716"/>
            <a:ext cx="274320" cy="274320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6729984" y="560984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150" dirty="0"/>
          </a:p>
        </p:txBody>
      </p:sp>
      <p:sp>
        <p:nvSpPr>
          <p:cNvPr id="69" name="Text 67"/>
          <p:cNvSpPr txBox="1"/>
          <p:nvPr/>
        </p:nvSpPr>
        <p:spPr>
          <a:xfrm>
            <a:off x="9006840" y="560984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/ reference checks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intermittent-demand, per-(supplier,store) localized failure and narrow-window margin leakage on the rule roadmap.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DETECTION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Incremental detection &amp;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runs incrementally on what changed, and the whole engine was engineered from a 10-minute run down to under two minutes by killing N+1 query patterns.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99232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run scope + dirty-keys — re-evaluate only changed sku/store pairs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 630s → 83s, then ~117s with three added trend/shrink rules (peak 382MB)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 was the N+1, not compute — worst rule 684s → 2.2s as one SQL query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queue; scheduler-driven, plus on-demand 'Run Detection Now'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160020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60336" y="174650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60336" y="2203704"/>
            <a:ext cx="4224528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RunScope + DetectionDirtyKey · window functions (LEAD/LAG) + LATERAL joins move per-pair loops into single SQL statements; targeted composite indexes on inventory + sales.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411480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4617720"/>
            <a:ext cx="4224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catalogues (thousands of SKUs × dozens of stores × 90 snapshots) detect in minutes, not hours — and only re-work what actually changed.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Apps\RootCause · Detection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DIAGNOSIS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Investigation, evidence &amp; causal inference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Co-occurring anomalies are correlated into a single investigation with grouped evidence, then a deterministic causal graph infers the actual root cause and its confidence.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99232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groups anomalies into investigations; rule-based suppression cuts noise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graph encodes retail cause→effect (supply→stockout→sales drop; cost→margin→discount; shrink→phantom)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the correlated group → chain head (root), longest chain, confidence tier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tiers: correlated (co-occur) · likely (one link) · verified (full chain)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160020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60336" y="174650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60336" y="2203704"/>
            <a:ext cx="4224528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InvestigationCorrelationService + SuppressionService · CausalGraph + RootCauseAnalysisService (deterministic, auditable) · scoped links: sku / sku+store / store / supplier.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411480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4617720"/>
            <a:ext cx="4224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'what moved' but 'why, and how sure' — a defensible, auditable root cause instead of a black-box guess.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Apps\RootCause · Investigation + B8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EXPLANATION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root-cause narrative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(Haiku) writes the plain-language story of an already-decided investigation — the finding, the evidence, the inferred cause — so an operator reads prose, not a rule dump.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99232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narrates a finding the deterministic engine already decided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chooses which anomalies matter or invents a root cause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used pre-detection for AI-assisted import column mapping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are recorded as job runs; narration is out-of-band, never blocking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160020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60336" y="174650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60336" y="2203704"/>
            <a:ext cx="4224528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InvestigationNarratorService (Claude Haiku) with a tightened prompt · ColumnMappingService for import mapping. Determinism upstream; language only at the edge.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411480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4617720"/>
            <a:ext cx="4224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through auditability: the decision is deterministic and reproducible; the AI makes it readable, so nobody has to trust a model's judgment on what matters.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InvestigationNarratorService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FORECASTING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Best-fit demand engine (intermittent-aware)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demand layer built for the reality that ~78% of the catalogue is intermittent — Croston/SBA rate estimation instead of naïve averages, with a dependency-free forecast chart on the investigation.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99232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Croston / SBA rate = mean-nonzero ÷ average demand interval (ADI)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Intermittent safety stock Z·σ·√L; reorder point; order-up-to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Self-activating seasonality once a tenant has ~1 year of history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Inline-SVG 'demand vs best-fit forecast' chart (bars for intermittent, band)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160020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60336" y="174650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60336" y="2203704"/>
            <a:ext cx="4224528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ReplenishmentService (nightly replenishment:compute, sku_replenishment) · ForecastChartService (Croston/SBA + seasonal expected + band, dependency-free SVG).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411480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4617720"/>
            <a:ext cx="4224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forecasting quietly fails on slow/erratic movers — most of a real grocery range. Best-fit makes the replenishment maths honest for the whole catalogue.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Apps\RootCause · Track A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RECOMMEND (B4)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Prescriptive replenishment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each exception into a concrete, costed recommendation — reorder, transfer or emergency PO — that a human executes in their own ERP.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99232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point + suggested order quantity + order-up-to level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option: best-surplus donor store for a shortfall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Emergency-PO option when transfer can't cover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reorder points revive safety-stock &amp; imbalance rules and sharpen stockout risk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160020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60336" y="174650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60336" y="2203704"/>
            <a:ext cx="4224528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ReplenishmentService (s1) + ReplenishmentRecommendationService (s2). Derived values fall back where tenant data is absent — never overwrite tenant-supplied values.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411480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4617720"/>
            <a:ext cx="4224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from 'here's a problem' to 'here's the specific, quantified fix' — while staying strictly on the decision-support side of the ERP line.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ReplenishmentRecommendationService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COMMERCIAL TRACK (B1–B3)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Impact, validation &amp; smart defaults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6576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901952"/>
            <a:ext cx="384048" cy="384048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883664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Impact-first + currency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414016"/>
            <a:ext cx="316382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ISO currency (central Money)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'Estimated value at risk' overview stat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floors so alerts are ranked by value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Impact-first descriptions everywhere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1737360"/>
            <a:ext cx="36576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44568" y="1901952"/>
            <a:ext cx="384048" cy="384048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44568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056632" y="1883664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harness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414016"/>
            <a:ext cx="316382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detection:validate command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Emitted-vs-gated noise-cut %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by rule and by segment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records emitted/gated per rule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73736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39328" y="1901952"/>
            <a:ext cx="384048" cy="384048"/>
          </a:xfrm>
          <a:prstGeom prst="ellipse">
            <a:avLst/>
          </a:prstGeom>
          <a:solidFill>
            <a:srgbClr val="127C8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39328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851392" y="1883664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defaults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2414016"/>
            <a:ext cx="302666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Floors derived from price/cost distribution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'Recommended floor' shown per rule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'Use recommended'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Economics-driven, not hand-tuned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800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make the engine impact-ranked, measurable and self-configuring — so a new tenant gets sensible, value-first detection without manual threshold tuning.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B1–B3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COMMERCIAL TRACK (B5–B7)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loop, measured ROI &amp; learning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6576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9019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883664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loop (track-only)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414016"/>
            <a:ext cx="316382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 recommendation as an owned Action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 owner; proposed → acknowledged → done / dismissed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with a recorded outcome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sent to the ERP — a record of a decision, not a transaction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1737360"/>
            <a:ext cx="36576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44568" y="19019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44568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056632" y="1883664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outcomes &amp; ROI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414016"/>
            <a:ext cx="316382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funnel: surfaced → assessed-at-risk → recovered → recovery rate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breakdown + ROI dashboard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metrics (precision/recall) alongside money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'did we act, and did it work?' loop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73736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39328" y="19019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39328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851392" y="1883664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loop (recommend-only)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2414016"/>
            <a:ext cx="302666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ThresholdTuningService spots noisy rules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tighter floors/bands via impact separation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'Apply learned' — an admin approves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silently auto-applied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074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closes on the business, not just the data: adopted decisions are measured for recovered value, and the engine recommends its own tuning — with a human in the loop.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B5–B7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COLLABORATION &amp; LIFECYCLE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Workflow, watch, escalation &amp; noise control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operational layer that keeps investigations moving and quiet — ownership, collaboration, escalation, and aggressive noise suppression so only what matters surfaces.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99232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investigations; in-app notifications on change + @mentions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comments + mentions for team collaboration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rules + escalation events for ageing / high-impact items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suppression + snooze; lifecycle reconciliation resolves/reopens automatically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160020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60336" y="174650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60336" y="2203704"/>
            <a:ext cx="4224528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InvestigationWatch + WatchNotification · InvestigationComment + CommentMention · EscalationRule + EscalationEvent + EscalationService · Suppression + LifecycleReconciler + AnomalyRecoveryService.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411480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4617720"/>
            <a:ext cx="4224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attention is the scarce resource — the app protects it with suppression, routing and auto-lifecycle, so the queue stays trustworthy.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Apps\RootCause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SURFACES &amp; DELIVERY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Dashboards, reporting &amp; notifications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intelligence reaches people — clickable dashboards, exportable reports, and multi-channel notifications, all tenant-scoped and role-aware.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99232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clickable widgets that drill into filtered investigations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anomaly report + reporting-page PDF/Excel exports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notification bell (Watch + mentions) and email via Resend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account/profile; owner-protected settings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160020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60336" y="174650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60336" y="2203704"/>
            <a:ext cx="4224528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Filament v5 resources/pages/widgets · report controllers (PDF/Excel) · database notifications (JSON-typed) + Resend mail · SPA navigation.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411480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4617720"/>
            <a:ext cx="4224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only creates value when it's seen and acted on — the delivery surfaces turn detection into decisions in the operator's hands.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Apps\RootCause · UI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&amp; EVOLUTION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Recommend-first, execute-when-trusted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883664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app's founding principle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40864"/>
            <a:ext cx="499262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recommends; it never executes.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pushed to the ERP — a human does the work in their own system.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'Action' is an owned record of a decision + outcome, track-only.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narrates; deterministic rules decide.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stay quiet without their data; derived values never overwrite tenant values.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decision-support line the app holds, by design.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91656" y="1883664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platform's evolution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340864"/>
            <a:ext cx="499262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CAN close the loop — write-back (P2.1) + orchestration (P4.8) exist as framework.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autonomy defaults to ADVISE — the safest level.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auto-executes past a guardrail (P4.1) or below a tenant's confidence threshold.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'Auto' is opt-in per tenant, and only earns trust after a measured track record.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loop can close where a customer wants it — without abandoning recommend-first.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989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true, and the deck labels them honestly: the app is decision-support today; the platform makes safe, human-gated closed-loop execution possible when a customer chooses it.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Autnyx wins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019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883664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the ERP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414016"/>
            <a:ext cx="3172968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ERPs transact; they have almost no exception intelligence. Autnyx is the diagnostic + recovery layer above the system of record.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98848" y="19019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98848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10912" y="1883664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RELEX / Blue Yonder / Slimstock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17136" y="2414016"/>
            <a:ext cx="3172968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forecast and replenish well but explain shallowly. Autnyx consumes their plan, detects where reality diverged, and explains WHY across signals.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47888" y="19019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47888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759952" y="1883664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generic BI / alerting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66176" y="2414016"/>
            <a:ext cx="3172968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shows that a number moved. Autnyx correlates across demand/inventory/supply/finance into one investigation, infers cause, and measures recovery.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3212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 is the combination: deterministic + auditable root cause, best-fit demand for an intermittent catalogue, measured recovery, and a learning platform beneath — not any single feature.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 — and what unblocks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837944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Net-new apps (roadmap)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95144"/>
            <a:ext cx="499262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Assortment Intelligence — distribution-gap engine on clustering + data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Execution — the cross-app work queue over the Tasks primitive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Intelligence — benchmarking, intra-tenant first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/ what-if simulation — an Assortment/Network feature (P4.7)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copilot across apps (P4.9)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E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91656" y="1837944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wiring (framework → value)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295144"/>
            <a:ext cx="499262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platform layers in the UI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decision memory + evaluation with real recommendations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real ERP/F&amp;R endpoints (flagship connectors)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per-tenant objective weights, contracts, metering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→ orchestration trigger adapter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1110996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3434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THAT UNBLOCKS ~EVERYTHING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framework is essentially complete. Almost nothing left is buildable blind — it's gated on a FIRST CUSTOMER (fills the learning layers with real data and turns on the wiring) and APP 2 (unlocks metering, the copilot and cross-app value). The next move is commercial or a second app, not more platform.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capability status scorecard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P1 Canonical Core (hierarchies, events, bitemporal, metrics, features)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561320" y="166420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C6820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61320" y="16642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071116"/>
            <a:ext cx="111099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071116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P2 Close the Loop (intent, objectives, prescriptive, planning feed)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561320" y="2135124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C682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61320" y="21351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542032"/>
            <a:ext cx="111099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542032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P3.2–3.4 Moat (extensibility, traceability, contracts+metering)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561320" y="260604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C6820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61320" y="2606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012948"/>
            <a:ext cx="111099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012948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P4.1–4.6, 4.8 Learn/Trust/Autonomy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561320" y="307695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C6820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561320" y="30769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483864"/>
            <a:ext cx="111099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483864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P3.1 Peer Intelligence / P4.7 Simulation / P4.9 Copilot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561320" y="35478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6C7A9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561320" y="35478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954780"/>
            <a:ext cx="111099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3954780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Tenancy, Identity, Security, Ingestion, Ops, Clustering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561320" y="401878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561320" y="40187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425696"/>
            <a:ext cx="111099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425696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Detection engine (34 rules) + incremental runs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561320" y="4489704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561320" y="44897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896612"/>
            <a:ext cx="111099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4896612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Investigation, evidence, causal inference (B8)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561320" y="496062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561320" y="49606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5367528"/>
            <a:ext cx="111099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1520" y="5367528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AI narrative · best-fit demand (Croston/SBA)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561320" y="543153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561320" y="54315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5838444"/>
            <a:ext cx="111099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31520" y="5838444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Prescriptive replenishment + action loop + ROI + learning (B1–B7)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561320" y="59024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0561320" y="59024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6309360"/>
            <a:ext cx="111099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31520" y="6309360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Assortment &amp; Task-Execution apps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0561320" y="637336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6C7A9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0561320" y="6373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— AI-Native Supply-Chain Control Tower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6455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One loop. Many apps.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3832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Autnyx senses the exception, explains the cause, recommends the fix, measures the recovery, and learns which responses work — deterministic where it must be, AI where it helps, and safe by default where it acts.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2011680" cy="0"/>
          </a:xfrm>
          <a:prstGeom prst="line">
            <a:avLst/>
          </a:prstGeom>
          <a:noFill/>
          <a:ln w="31750">
            <a:solidFill>
              <a:srgbClr val="2FB6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Intelligence, live today  ·  Assortment &amp; Tasks next  ·  a platform built to carry all three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2026-09-07T18:42:08Z</dcterms:created>
  <dcterms:modified xsi:type="dcterms:W3CDTF">2026-09-07T18:42:08Z</dcterms:modified>
</cp:coreProperties>
</file>